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useTimings="1" showNarration="1"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BaeBugs. A virtual lab built from the labware already on the bench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with what you have. Tube racks, tip boxes, cryo boxes and conicals, repurposed instead of bought new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rack is a coordinate system. A 96-position tip rack maps straight onto a well grid the robot understands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Measured, then modeled. Cryo racks become parametric OpenSCAD models with exact well pitch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Printable remixes. SBS frame, honeycomb insert and grid mesh, printed from the repo's STL files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Bench gear stays in the loop. Vortexers and mini centrifuges are tracked alongside the printed parts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Onto the robot. Custom labware definitions load onto an Opentrons Flex deck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 it on screen first. The deck is laid out in 3D before anything touches the robot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Repurpose. Print. Run. Replay.. github.com/biobitworks/baebugs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1_flatlay.jpg"/>
          <p:cNvPicPr>
            <a:picLocks noChangeAspect="1"/>
          </p:cNvPicPr>
          <p:nvPr/>
        </p:nvPicPr>
        <p:blipFill>
          <a:blip r:embed="rId2"/>
          <a:srcRect t="7386" b="7386"/>
          <a:stretch>
            <a:fillRect/>
          </a:stretch>
        </p:blipFill>
        <p:spPr>
          <a:xfrm>
            <a:off x="0" y="0"/>
            <a:ext cx="603504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675120" y="2331720"/>
            <a:ext cx="1097280" cy="73152"/>
          </a:xfrm>
          <a:prstGeom prst="rect">
            <a:avLst/>
          </a:prstGeom>
          <a:solidFill>
            <a:srgbClr val="F2C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0" y="2468880"/>
            <a:ext cx="5120640" cy="2377440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Arial"/>
              </a:rPr>
              <a:t>BaeBugs</a:t>
            </a:r>
          </a:p>
          <a:p>
            <a:pPr algn="l">
              <a:spcBef>
                <a:spcPts val="1200"/>
              </a:spcBef>
            </a:pPr>
            <a:r>
              <a:rPr sz="2000">
                <a:solidFill>
                  <a:srgbClr val="C8C8C8"/>
                </a:solidFill>
                <a:latin typeface="Arial"/>
              </a:rPr>
              <a:t>A virtual lab built from the labware already on the bench</a:t>
            </a:r>
          </a:p>
        </p:txBody>
      </p:sp>
    </p:spTree>
  </p:cSld>
  <p:clrMapOvr>
    <a:masterClrMapping/>
  </p:clrMapOvr>
  <p:transition spd="slow" advClick="1" advTm="7000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2_mix.jpg"/>
          <p:cNvPicPr>
            <a:picLocks noChangeAspect="1"/>
          </p:cNvPicPr>
          <p:nvPr/>
        </p:nvPicPr>
        <p:blipFill>
          <a:blip r:embed="rId2"/>
          <a:srcRect l="17000" r="17000"/>
          <a:stretch>
            <a:fillRect/>
          </a:stretch>
        </p:blipFill>
        <p:spPr>
          <a:xfrm>
            <a:off x="0" y="0"/>
            <a:ext cx="603504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675120" y="2331720"/>
            <a:ext cx="1097280" cy="73152"/>
          </a:xfrm>
          <a:prstGeom prst="rect">
            <a:avLst/>
          </a:prstGeom>
          <a:solidFill>
            <a:srgbClr val="F2C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0" y="2468880"/>
            <a:ext cx="5120640" cy="2377440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rial"/>
              </a:rPr>
              <a:t>Start with what you have</a:t>
            </a:r>
          </a:p>
          <a:p>
            <a:pPr algn="l">
              <a:spcBef>
                <a:spcPts val="1200"/>
              </a:spcBef>
            </a:pPr>
            <a:r>
              <a:rPr sz="2000">
                <a:solidFill>
                  <a:srgbClr val="C8C8C8"/>
                </a:solidFill>
                <a:latin typeface="Arial"/>
              </a:rPr>
              <a:t>Tube racks, tip boxes, cryo boxes and conicals, repurposed instead of bought new</a:t>
            </a:r>
          </a:p>
        </p:txBody>
      </p:sp>
    </p:spTree>
  </p:cSld>
  <p:clrMapOvr>
    <a:masterClrMapping/>
  </p:clrMapOvr>
  <p:transition spd="slow" advClick="1" advTm="6000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3_grid.jpg"/>
          <p:cNvPicPr>
            <a:picLocks noChangeAspect="1"/>
          </p:cNvPicPr>
          <p:nvPr/>
        </p:nvPicPr>
        <p:blipFill>
          <a:blip r:embed="rId2"/>
          <a:srcRect t="17093" b="17093"/>
          <a:stretch>
            <a:fillRect/>
          </a:stretch>
        </p:blipFill>
        <p:spPr>
          <a:xfrm>
            <a:off x="0" y="0"/>
            <a:ext cx="603504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675120" y="2331720"/>
            <a:ext cx="1097280" cy="73152"/>
          </a:xfrm>
          <a:prstGeom prst="rect">
            <a:avLst/>
          </a:prstGeom>
          <a:solidFill>
            <a:srgbClr val="F2C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0" y="2468880"/>
            <a:ext cx="5120640" cy="2377440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rial"/>
              </a:rPr>
              <a:t>Every rack is a coordinate system</a:t>
            </a:r>
          </a:p>
          <a:p>
            <a:pPr algn="l">
              <a:spcBef>
                <a:spcPts val="1200"/>
              </a:spcBef>
            </a:pPr>
            <a:r>
              <a:rPr sz="2000">
                <a:solidFill>
                  <a:srgbClr val="C8C8C8"/>
                </a:solidFill>
                <a:latin typeface="Arial"/>
              </a:rPr>
              <a:t>A 96-position tip rack maps straight onto a well grid the robot understands</a:t>
            </a:r>
          </a:p>
        </p:txBody>
      </p:sp>
    </p:spTree>
  </p:cSld>
  <p:clrMapOvr>
    <a:masterClrMapping/>
  </p:clrMapOvr>
  <p:transition spd="slow" advClick="1" advTm="6000">
    <p:push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5_cryo.jpg"/>
          <p:cNvPicPr>
            <a:picLocks noChangeAspect="1"/>
          </p:cNvPicPr>
          <p:nvPr/>
        </p:nvPicPr>
        <p:blipFill>
          <a:blip r:embed="rId2"/>
          <a:srcRect l="6000" r="6000"/>
          <a:stretch>
            <a:fillRect/>
          </a:stretch>
        </p:blipFill>
        <p:spPr>
          <a:xfrm>
            <a:off x="0" y="0"/>
            <a:ext cx="603504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675120" y="2331720"/>
            <a:ext cx="1097280" cy="73152"/>
          </a:xfrm>
          <a:prstGeom prst="rect">
            <a:avLst/>
          </a:prstGeom>
          <a:solidFill>
            <a:srgbClr val="F2C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0" y="2468880"/>
            <a:ext cx="5120640" cy="2377440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rial"/>
              </a:rPr>
              <a:t>Measured, then modeled</a:t>
            </a:r>
          </a:p>
          <a:p>
            <a:pPr algn="l">
              <a:spcBef>
                <a:spcPts val="1200"/>
              </a:spcBef>
            </a:pPr>
            <a:r>
              <a:rPr sz="2000">
                <a:solidFill>
                  <a:srgbClr val="C8C8C8"/>
                </a:solidFill>
                <a:latin typeface="Arial"/>
              </a:rPr>
              <a:t>Cryo racks become parametric OpenSCAD models with exact well pitch</a:t>
            </a:r>
          </a:p>
        </p:txBody>
      </p:sp>
    </p:spTree>
  </p:cSld>
  <p:clrMapOvr>
    <a:masterClrMapping/>
  </p:clrMapOvr>
  <p:transition spd="slow" advClick="1" advTm="6000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6_prints.jpg"/>
          <p:cNvPicPr>
            <a:picLocks noChangeAspect="1"/>
          </p:cNvPicPr>
          <p:nvPr/>
        </p:nvPicPr>
        <p:blipFill>
          <a:blip r:embed="rId2"/>
          <a:srcRect t="7386" b="7386"/>
          <a:stretch>
            <a:fillRect/>
          </a:stretch>
        </p:blipFill>
        <p:spPr>
          <a:xfrm>
            <a:off x="0" y="0"/>
            <a:ext cx="603504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675120" y="2331720"/>
            <a:ext cx="1097280" cy="73152"/>
          </a:xfrm>
          <a:prstGeom prst="rect">
            <a:avLst/>
          </a:prstGeom>
          <a:solidFill>
            <a:srgbClr val="F2C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0" y="2468880"/>
            <a:ext cx="5120640" cy="2377440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rial"/>
              </a:rPr>
              <a:t>Printable remixes</a:t>
            </a:r>
          </a:p>
          <a:p>
            <a:pPr algn="l">
              <a:spcBef>
                <a:spcPts val="1200"/>
              </a:spcBef>
            </a:pPr>
            <a:r>
              <a:rPr sz="2000">
                <a:solidFill>
                  <a:srgbClr val="C8C8C8"/>
                </a:solidFill>
                <a:latin typeface="Arial"/>
              </a:rPr>
              <a:t>SBS frame, honeycomb insert and grid mesh, printed from the repo's STL files</a:t>
            </a:r>
          </a:p>
        </p:txBody>
      </p:sp>
    </p:spTree>
  </p:cSld>
  <p:clrMapOvr>
    <a:masterClrMapping/>
  </p:clrMapOvr>
  <p:transition spd="slow" advClick="1" advTm="7000">
    <p:push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7_vortex.jpg"/>
          <p:cNvPicPr>
            <a:picLocks noChangeAspect="1"/>
          </p:cNvPicPr>
          <p:nvPr/>
        </p:nvPicPr>
        <p:blipFill>
          <a:blip r:embed="rId2"/>
          <a:srcRect l="4246" r="4246"/>
          <a:stretch>
            <a:fillRect/>
          </a:stretch>
        </p:blipFill>
        <p:spPr>
          <a:xfrm>
            <a:off x="0" y="0"/>
            <a:ext cx="603504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675120" y="2331720"/>
            <a:ext cx="1097280" cy="73152"/>
          </a:xfrm>
          <a:prstGeom prst="rect">
            <a:avLst/>
          </a:prstGeom>
          <a:solidFill>
            <a:srgbClr val="F2C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0" y="2468880"/>
            <a:ext cx="5120640" cy="2377440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rial"/>
              </a:rPr>
              <a:t>Bench gear stays in the loop</a:t>
            </a:r>
          </a:p>
          <a:p>
            <a:pPr algn="l">
              <a:spcBef>
                <a:spcPts val="1200"/>
              </a:spcBef>
            </a:pPr>
            <a:r>
              <a:rPr sz="2000">
                <a:solidFill>
                  <a:srgbClr val="C8C8C8"/>
                </a:solidFill>
                <a:latin typeface="Arial"/>
              </a:rPr>
              <a:t>Vortexers and mini centrifuges are tracked alongside the printed parts</a:t>
            </a:r>
          </a:p>
        </p:txBody>
      </p:sp>
    </p:spTree>
  </p:cSld>
  <p:clrMapOvr>
    <a:masterClrMapping/>
  </p:clrMapOvr>
  <p:transition spd="slow" advClick="1" advTm="6000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8_deck.jpg"/>
          <p:cNvPicPr>
            <a:picLocks noChangeAspect="1"/>
          </p:cNvPicPr>
          <p:nvPr/>
        </p:nvPicPr>
        <p:blipFill>
          <a:blip r:embed="rId2"/>
          <a:srcRect t="520" b="520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5120640"/>
            <a:ext cx="12191695" cy="1737360"/>
          </a:xfrm>
          <a:prstGeom prst="rect">
            <a:avLst/>
          </a:prstGeom>
          <a:solidFill>
            <a:srgbClr val="141414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5349240"/>
            <a:ext cx="73152" cy="1280160"/>
          </a:xfrm>
          <a:prstGeom prst="rect">
            <a:avLst/>
          </a:prstGeom>
          <a:solidFill>
            <a:srgbClr val="F2C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166360"/>
            <a:ext cx="10789920" cy="1645920"/>
          </a:xfrm>
          <a:prstGeom prst="rect">
            <a:avLst/>
          </a:prstGeom>
          <a:noFill/>
        </p:spPr>
        <p:txBody>
          <a:bodyPr wrap="square" anchor="ctr" tIns="91440" bIns="9144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rial"/>
              </a:rPr>
              <a:t>Onto the robot</a:t>
            </a:r>
          </a:p>
          <a:p>
            <a:pPr algn="l">
              <a:spcBef>
                <a:spcPts val="1200"/>
              </a:spcBef>
            </a:pPr>
            <a:r>
              <a:rPr sz="1800">
                <a:solidFill>
                  <a:srgbClr val="C8C8C8"/>
                </a:solidFill>
                <a:latin typeface="Arial"/>
              </a:rPr>
              <a:t>Custom labware definitions load onto an Opentrons Flex deck</a:t>
            </a:r>
          </a:p>
        </p:txBody>
      </p:sp>
    </p:spTree>
  </p:cSld>
  <p:clrMapOvr>
    <a:masterClrMapping/>
  </p:clrMapOvr>
  <p:transition spd="slow" advClick="1" advTm="7000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9_twin.jpg"/>
          <p:cNvPicPr>
            <a:picLocks noChangeAspect="1"/>
          </p:cNvPicPr>
          <p:nvPr/>
        </p:nvPicPr>
        <p:blipFill>
          <a:blip r:embed="rId2"/>
          <a:srcRect l="3800" r="3800"/>
          <a:stretch>
            <a:fillRect/>
          </a:stretch>
        </p:blipFill>
        <p:spPr>
          <a:xfrm>
            <a:off x="0" y="0"/>
            <a:ext cx="603504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675120" y="2331720"/>
            <a:ext cx="1097280" cy="73152"/>
          </a:xfrm>
          <a:prstGeom prst="rect">
            <a:avLst/>
          </a:prstGeom>
          <a:solidFill>
            <a:srgbClr val="F2C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0" y="2468880"/>
            <a:ext cx="5120640" cy="2377440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rial"/>
              </a:rPr>
              <a:t>Plan it on screen first</a:t>
            </a:r>
          </a:p>
          <a:p>
            <a:pPr algn="l">
              <a:spcBef>
                <a:spcPts val="1200"/>
              </a:spcBef>
            </a:pPr>
            <a:r>
              <a:rPr sz="2000">
                <a:solidFill>
                  <a:srgbClr val="C8C8C8"/>
                </a:solidFill>
                <a:latin typeface="Arial"/>
              </a:rPr>
              <a:t>The deck is laid out in 3D before anything touches the robot</a:t>
            </a:r>
          </a:p>
        </p:txBody>
      </p:sp>
    </p:spTree>
  </p:cSld>
  <p:clrMapOvr>
    <a:masterClrMapping/>
  </p:clrMapOvr>
  <p:transition spd="slow" advClick="1" advTm="6000">
    <p:push dir="l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94960" y="2377440"/>
            <a:ext cx="1371600" cy="73152"/>
          </a:xfrm>
          <a:prstGeom prst="rect">
            <a:avLst/>
          </a:prstGeom>
          <a:solidFill>
            <a:srgbClr val="F2C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62895" cy="1828800"/>
          </a:xfrm>
          <a:prstGeom prst="rect">
            <a:avLst/>
          </a:prstGeom>
          <a:noFill/>
        </p:spPr>
        <p:txBody>
          <a:bodyPr wrap="square" anchor="ctr" tIns="91440" bIns="91440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Arial"/>
              </a:rPr>
              <a:t>Repurpose. Print. Run. Replay.</a:t>
            </a:r>
          </a:p>
          <a:p>
            <a:pPr algn="ctr">
              <a:spcBef>
                <a:spcPts val="1200"/>
              </a:spcBef>
            </a:pPr>
            <a:r>
              <a:rPr sz="2400">
                <a:solidFill>
                  <a:srgbClr val="C8C8C8"/>
                </a:solidFill>
                <a:latin typeface="Arial"/>
              </a:rPr>
              <a:t>github.com/biobitworks/baebugs</a:t>
            </a:r>
          </a:p>
        </p:txBody>
      </p:sp>
    </p:spTree>
  </p:cSld>
  <p:clrMapOvr>
    <a:masterClrMapping/>
  </p:clrMapOvr>
  <p:transition spd="slow" advClick="1" advTm="80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